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234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2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1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7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5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1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6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4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4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2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2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692B7-FD23-4F29-8353-71ACD90D6C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1F61-F49D-43F4-8D47-827035029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9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E254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101600"/>
            <a:ext cx="825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smtClean="0">
                <a:solidFill>
                  <a:srgbClr val="FFFFFF"/>
                </a:solidFill>
                <a:latin typeface="Segoe UI"/>
              </a:rPr>
              <a:t>Client Presentation | Stock Promotion Automation</a:t>
            </a:r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206500"/>
            <a:ext cx="177800" cy="2159000"/>
          </a:xfrm>
          <a:prstGeom prst="rect">
            <a:avLst/>
          </a:prstGeom>
          <a:solidFill>
            <a:srgbClr val="098C9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39800" y="1270000"/>
            <a:ext cx="10033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800" b="1" smtClean="0">
                <a:solidFill>
                  <a:srgbClr val="0E2542"/>
                </a:solidFill>
                <a:latin typeface="Segoe UI Semibold"/>
              </a:rPr>
              <a:t>Stock Promotion Automation Platform</a:t>
            </a:r>
            <a:endParaRPr lang="en-US" sz="4800" b="1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9800" y="2794000"/>
            <a:ext cx="9652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smtClean="0">
                <a:solidFill>
                  <a:srgbClr val="566573"/>
                </a:solidFill>
                <a:latin typeface="Segoe UI"/>
              </a:rPr>
              <a:t>End-to-end discovery, AI content generation, and controlled multi-platform publishing for stock campaigns.
Demo Date: April 13, 2026</a:t>
            </a:r>
            <a:endParaRPr lang="en-US" sz="2100">
              <a:solidFill>
                <a:srgbClr val="566573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39800" y="4953000"/>
            <a:ext cx="3175000" cy="584200"/>
          </a:xfrm>
          <a:prstGeom prst="roundRect">
            <a:avLst/>
          </a:prstGeom>
          <a:solidFill>
            <a:srgbClr val="1A579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mtClean="0">
                <a:solidFill>
                  <a:srgbClr val="FFFFFF"/>
                </a:solidFill>
                <a:latin typeface="Segoe UI"/>
              </a:rPr>
              <a:t>Phase 1 + 2 + 3 Ready</a:t>
            </a:r>
            <a:endParaRPr lang="en-US" sz="16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1384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E254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101600"/>
            <a:ext cx="825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smtClean="0">
                <a:solidFill>
                  <a:srgbClr val="FFFFFF"/>
                </a:solidFill>
                <a:latin typeface="Segoe UI"/>
              </a:rPr>
              <a:t>What The App Does</a:t>
            </a:r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762000"/>
            <a:ext cx="6858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smtClean="0">
                <a:solidFill>
                  <a:srgbClr val="0E2542"/>
                </a:solidFill>
                <a:latin typeface="Segoe UI Semibold"/>
              </a:rPr>
              <a:t>Business Outcome</a:t>
            </a:r>
            <a:endParaRPr lang="en-US" sz="34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5000" y="1651000"/>
            <a:ext cx="7048500" cy="4381500"/>
          </a:xfrm>
          <a:prstGeom prst="roundRect">
            <a:avLst/>
          </a:prstGeom>
          <a:solidFill>
            <a:srgbClr val="F5F8FC"/>
          </a:solidFill>
          <a:ln>
            <a:solidFill>
              <a:srgbClr val="DDE5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52500" y="1968500"/>
            <a:ext cx="6413500" cy="31700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• Monitors Reddit and additional market connectors for stock and crypto trend signals</a:t>
            </a:r>
          </a:p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• Detects high-interest symbols using weighted trend scoring windows (1h, 6h, 24h)</a:t>
            </a:r>
          </a:p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• Generates engaging draft content with structured LLM output</a:t>
            </a:r>
          </a:p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• Publishes to StockTwits (browser automation) and Telegram (bot pipeline)</a:t>
            </a:r>
          </a:p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• Tracks publish success, failures, retries, and account health in real time</a:t>
            </a:r>
            <a:endParaRPr lang="en-US" sz="2000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01000" y="1651000"/>
            <a:ext cx="3556000" cy="4381500"/>
          </a:xfrm>
          <a:prstGeom prst="roundRect">
            <a:avLst/>
          </a:prstGeom>
          <a:solidFill>
            <a:srgbClr val="12315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18500" y="2032000"/>
            <a:ext cx="2921000" cy="36009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smtClean="0">
                <a:solidFill>
                  <a:srgbClr val="FFFFFF"/>
                </a:solidFill>
                <a:latin typeface="Segoe UI"/>
              </a:rPr>
              <a:t>Client Value
• Faster campaign turnaround
• Consistent content quality
• Safer account operations
• Clear operational visibility
• Reliable retry and recovery</a:t>
            </a:r>
            <a:endParaRPr lang="en-US" sz="1900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3389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E254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101600"/>
            <a:ext cx="825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smtClean="0">
                <a:solidFill>
                  <a:srgbClr val="FFFFFF"/>
                </a:solidFill>
                <a:latin typeface="Segoe UI"/>
              </a:rPr>
              <a:t>How It Works: 6-Step Pipeline</a:t>
            </a:r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787400"/>
            <a:ext cx="10922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900" smtClean="0">
                <a:solidFill>
                  <a:srgbClr val="0E2542"/>
                </a:solidFill>
                <a:latin typeface="Segoe UI Semibold"/>
              </a:rPr>
              <a:t>Data In -&gt; AI Decisions -&gt; Controlled Publishing -&gt; Monitoring</a:t>
            </a:r>
            <a:endParaRPr lang="en-US" sz="29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98500" y="1778000"/>
            <a:ext cx="1651000" cy="1206500"/>
          </a:xfrm>
          <a:prstGeom prst="roundRect">
            <a:avLst/>
          </a:prstGeom>
          <a:solidFill>
            <a:srgbClr val="E8F4FF"/>
          </a:solidFill>
          <a:ln>
            <a:solidFill>
              <a:srgbClr val="BEC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>
                <a:solidFill>
                  <a:srgbClr val="262D38"/>
                </a:solidFill>
                <a:latin typeface="Segoe UI"/>
              </a:rPr>
              <a:t>1. Ingest`nReddit + APIs</a:t>
            </a:r>
            <a:endParaRPr lang="en-US" sz="1400" b="1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603500" y="1778000"/>
            <a:ext cx="1651000" cy="1206500"/>
          </a:xfrm>
          <a:prstGeom prst="roundRect">
            <a:avLst/>
          </a:prstGeom>
          <a:solidFill>
            <a:srgbClr val="DCF2EE"/>
          </a:solidFill>
          <a:ln>
            <a:solidFill>
              <a:srgbClr val="BEC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>
                <a:solidFill>
                  <a:srgbClr val="262D38"/>
                </a:solidFill>
                <a:latin typeface="Segoe UI"/>
              </a:rPr>
              <a:t>2. Trends`nScore symbols</a:t>
            </a:r>
            <a:endParaRPr lang="en-US" sz="1400" b="1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08500" y="1778000"/>
            <a:ext cx="1651000" cy="1206500"/>
          </a:xfrm>
          <a:prstGeom prst="roundRect">
            <a:avLst/>
          </a:prstGeom>
          <a:solidFill>
            <a:srgbClr val="FFEFDC"/>
          </a:solidFill>
          <a:ln>
            <a:solidFill>
              <a:srgbClr val="BEC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>
                <a:solidFill>
                  <a:srgbClr val="262D38"/>
                </a:solidFill>
                <a:latin typeface="Segoe UI"/>
              </a:rPr>
              <a:t>3. Drafts`nLLM generation</a:t>
            </a:r>
            <a:endParaRPr lang="en-US" sz="1400" b="1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13500" y="1778000"/>
            <a:ext cx="1651000" cy="1206500"/>
          </a:xfrm>
          <a:prstGeom prst="roundRect">
            <a:avLst/>
          </a:prstGeom>
          <a:solidFill>
            <a:srgbClr val="F6EEFF"/>
          </a:solidFill>
          <a:ln>
            <a:solidFill>
              <a:srgbClr val="BEC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>
                <a:solidFill>
                  <a:srgbClr val="262D38"/>
                </a:solidFill>
                <a:latin typeface="Segoe UI"/>
              </a:rPr>
              <a:t>4. Policy`nChecks + approvals</a:t>
            </a:r>
            <a:endParaRPr lang="en-US" sz="1400" b="1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18500" y="1778000"/>
            <a:ext cx="1651000" cy="1206500"/>
          </a:xfrm>
          <a:prstGeom prst="roundRect">
            <a:avLst/>
          </a:prstGeom>
          <a:solidFill>
            <a:srgbClr val="E8F4FF"/>
          </a:solidFill>
          <a:ln>
            <a:solidFill>
              <a:srgbClr val="BEC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>
                <a:solidFill>
                  <a:srgbClr val="262D38"/>
                </a:solidFill>
                <a:latin typeface="Segoe UI"/>
              </a:rPr>
              <a:t>5. Queue`nSchedule + retry</a:t>
            </a:r>
            <a:endParaRPr lang="en-US" sz="1400" b="1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23500" y="1778000"/>
            <a:ext cx="1651000" cy="1206500"/>
          </a:xfrm>
          <a:prstGeom prst="roundRect">
            <a:avLst/>
          </a:prstGeom>
          <a:solidFill>
            <a:srgbClr val="DCF2EE"/>
          </a:solidFill>
          <a:ln>
            <a:solidFill>
              <a:srgbClr val="BEC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>
                <a:solidFill>
                  <a:srgbClr val="262D38"/>
                </a:solidFill>
                <a:latin typeface="Segoe UI"/>
              </a:rPr>
              <a:t>6. Publish`nStockTwits + Telegram</a:t>
            </a:r>
            <a:endParaRPr lang="en-US" sz="1400" b="1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387600" y="2197100"/>
            <a:ext cx="228600" cy="355600"/>
          </a:xfrm>
          <a:prstGeom prst="rightArrow">
            <a:avLst/>
          </a:prstGeom>
          <a:solidFill>
            <a:srgbClr val="1A579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292600" y="2197100"/>
            <a:ext cx="228600" cy="355600"/>
          </a:xfrm>
          <a:prstGeom prst="rightArrow">
            <a:avLst/>
          </a:prstGeom>
          <a:solidFill>
            <a:srgbClr val="1A579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6197600" y="2197100"/>
            <a:ext cx="228600" cy="355600"/>
          </a:xfrm>
          <a:prstGeom prst="rightArrow">
            <a:avLst/>
          </a:prstGeom>
          <a:solidFill>
            <a:srgbClr val="1A579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8102600" y="2197100"/>
            <a:ext cx="228600" cy="355600"/>
          </a:xfrm>
          <a:prstGeom prst="rightArrow">
            <a:avLst/>
          </a:prstGeom>
          <a:solidFill>
            <a:srgbClr val="1A579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10007600" y="2197100"/>
            <a:ext cx="228600" cy="355600"/>
          </a:xfrm>
          <a:prstGeom prst="rightArrow">
            <a:avLst/>
          </a:prstGeom>
          <a:solidFill>
            <a:srgbClr val="1A579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952500" y="3683000"/>
            <a:ext cx="10668000" cy="213360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206500" y="4000500"/>
            <a:ext cx="10160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Platform controls active across the flow:
• API-key protected control plane
• Queue-based async workers (Redis/BullMQ)
• Idempotent jobs + cooldown duplicate suppression
• Full audit trail of ingest, draft, approval, publish, and recovery actions</a:t>
            </a:r>
            <a:endParaRPr lang="en-US" sz="2000">
              <a:solidFill>
                <a:srgbClr val="262D3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3212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E254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101600"/>
            <a:ext cx="825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smtClean="0">
                <a:solidFill>
                  <a:srgbClr val="FFFFFF"/>
                </a:solidFill>
                <a:latin typeface="Segoe UI"/>
              </a:rPr>
              <a:t>Reliability, Safety, and Operations</a:t>
            </a:r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787400"/>
            <a:ext cx="10922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300" smtClean="0">
                <a:solidFill>
                  <a:srgbClr val="0E2542"/>
                </a:solidFill>
                <a:latin typeface="Segoe UI Semibold"/>
              </a:rPr>
              <a:t>Built For Stable Daily Campaign Execution</a:t>
            </a:r>
            <a:endParaRPr lang="en-US" sz="33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5000" y="1651000"/>
            <a:ext cx="3492500" cy="4000500"/>
          </a:xfrm>
          <a:prstGeom prst="roundRect">
            <a:avLst/>
          </a:prstGeom>
          <a:solidFill>
            <a:srgbClr val="EBF6FF"/>
          </a:solidFill>
          <a:ln>
            <a:solidFill>
              <a:srgbClr val="CDDB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854200"/>
            <a:ext cx="30353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smtClean="0">
                <a:solidFill>
                  <a:srgbClr val="0E2542"/>
                </a:solidFill>
                <a:latin typeface="Segoe UI Semibold"/>
              </a:rPr>
              <a:t>Account Safety</a:t>
            </a:r>
            <a:endParaRPr lang="en-US" sz="22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463800"/>
            <a:ext cx="30353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>
                <a:solidFill>
                  <a:srgbClr val="262D38"/>
                </a:solidFill>
                <a:latin typeface="Segoe UI"/>
              </a:rPr>
              <a:t>• Multi-account routing`n• Health scoring by outcomes`n• Quarantine restricted accounts`n• Replacement workflow</a:t>
            </a:r>
            <a:endParaRPr lang="en-US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3400" y="1651000"/>
            <a:ext cx="3492500" cy="4000500"/>
          </a:xfrm>
          <a:prstGeom prst="roundRect">
            <a:avLst/>
          </a:prstGeom>
          <a:solidFill>
            <a:srgbClr val="EBFAF6"/>
          </a:solidFill>
          <a:ln>
            <a:solidFill>
              <a:srgbClr val="CDDB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0" y="1854200"/>
            <a:ext cx="30353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smtClean="0">
                <a:solidFill>
                  <a:srgbClr val="0E2542"/>
                </a:solidFill>
                <a:latin typeface="Segoe UI Semibold"/>
              </a:rPr>
              <a:t>Publishing Resilience</a:t>
            </a:r>
            <a:endParaRPr lang="en-US" sz="22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2463800"/>
            <a:ext cx="30353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>
                <a:solidFill>
                  <a:srgbClr val="262D38"/>
                </a:solidFill>
                <a:latin typeface="Segoe UI"/>
              </a:rPr>
              <a:t>• Retry policies + backoff`n• Dead-letter queue triage`n• Replay failed windows`n• Near-duplicate suppression</a:t>
            </a:r>
            <a:endParaRPr lang="en-US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51800" y="1651000"/>
            <a:ext cx="3492500" cy="4000500"/>
          </a:xfrm>
          <a:prstGeom prst="roundRect">
            <a:avLst/>
          </a:prstGeom>
          <a:solidFill>
            <a:srgbClr val="FFF5E8"/>
          </a:solidFill>
          <a:ln>
            <a:solidFill>
              <a:srgbClr val="CDDB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280400" y="1854200"/>
            <a:ext cx="30353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smtClean="0">
                <a:solidFill>
                  <a:srgbClr val="0E2542"/>
                </a:solidFill>
                <a:latin typeface="Segoe UI Semibold"/>
              </a:rPr>
              <a:t>Operations Control</a:t>
            </a:r>
            <a:endParaRPr lang="en-US" sz="22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80400" y="2463800"/>
            <a:ext cx="30353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>
                <a:solidFill>
                  <a:srgbClr val="262D38"/>
                </a:solidFill>
                <a:latin typeface="Segoe UI"/>
              </a:rPr>
              <a:t>• Metrics + readiness checks`n• Connector health monitoring`n• Audit logs for every action`n• Retention and recovery runbooks</a:t>
            </a:r>
            <a:endParaRPr lang="en-US">
              <a:solidFill>
                <a:srgbClr val="262D3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6283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E254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101600"/>
            <a:ext cx="825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smtClean="0">
                <a:solidFill>
                  <a:srgbClr val="FFFFFF"/>
                </a:solidFill>
                <a:latin typeface="Segoe UI"/>
              </a:rPr>
              <a:t>Live Demo Plan (Postman + Dashboard Endpoints)</a:t>
            </a:r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787400"/>
            <a:ext cx="10922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300" smtClean="0">
                <a:solidFill>
                  <a:srgbClr val="0E2542"/>
                </a:solidFill>
                <a:latin typeface="Segoe UI Semibold"/>
              </a:rPr>
              <a:t>What We Will Demonstrate To The Client</a:t>
            </a:r>
            <a:endParaRPr lang="en-US" sz="3300">
              <a:solidFill>
                <a:srgbClr val="0E2542"/>
              </a:solidFill>
              <a:latin typeface="Segoe UI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5000" y="1651000"/>
            <a:ext cx="7112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D3DF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2032000"/>
            <a:ext cx="63500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smtClean="0">
                <a:solidFill>
                  <a:srgbClr val="262D38"/>
                </a:solidFill>
                <a:latin typeface="Segoe UI"/>
              </a:rPr>
              <a:t>Demo sequence (API):
1) /health/live and /health/ready
2) POST /orchestration/run (sync)
3) GET /orchestration/trends
4) GET /orchestration/drafts
5) GET /orchestration/publish/jobs
6) GET /orchestration/dashboard/operations
7) GET /accounts</a:t>
            </a:r>
            <a:endParaRPr lang="en-US" sz="2000">
              <a:solidFill>
                <a:srgbClr val="262D38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64500" y="1651000"/>
            <a:ext cx="3492500" cy="4191000"/>
          </a:xfrm>
          <a:prstGeom prst="roundRect">
            <a:avLst/>
          </a:prstGeom>
          <a:solidFill>
            <a:srgbClr val="0E254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0" y="2057400"/>
            <a:ext cx="28575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>
                <a:solidFill>
                  <a:srgbClr val="FFFFFF"/>
                </a:solidFill>
                <a:latin typeface="Segoe UI"/>
              </a:rPr>
              <a:t>Success criteria
• End-to-end run completes
• Trends and drafts are visible
• Publish jobs are scheduled
• Operational controls are transparent
• System is production-ready for managed rollout</a:t>
            </a:r>
            <a:endParaRPr lang="en-US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5000" y="6032500"/>
            <a:ext cx="1092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>
                <a:solidFill>
                  <a:srgbClr val="1A579E"/>
                </a:solidFill>
                <a:latin typeface="Segoe UI Semibold"/>
              </a:rPr>
              <a:t>Thank you. Questions and client-specific rollout planning next.</a:t>
            </a:r>
            <a:endParaRPr lang="en-US">
              <a:solidFill>
                <a:srgbClr val="1A579E"/>
              </a:solidFill>
              <a:latin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2853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hamza.mindrind@outlook.com</dc:creator>
  <cp:lastModifiedBy>hamza.mindrind@outlook.com</cp:lastModifiedBy>
  <cp:revision>1</cp:revision>
  <dcterms:created xsi:type="dcterms:W3CDTF">2026-04-13T10:40:24Z</dcterms:created>
  <dcterms:modified xsi:type="dcterms:W3CDTF">2026-04-13T10:40:28Z</dcterms:modified>
</cp:coreProperties>
</file>